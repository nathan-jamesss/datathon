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"/>
            <a:ext cx="1316397" cy="1051560"/>
          </a:xfrm>
          <a:prstGeom prst="rect">
            <a:avLst/>
          </a:prstGeom>
        </p:spPr>
      </p:pic>
      <p:pic>
        <p:nvPicPr>
          <p:cNvPr id="3" name="Picture 2" descr="logo-vitap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65760"/>
            <a:ext cx="2497824" cy="77724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365760"/>
            <a:ext cx="2053503" cy="777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0">
                <a:solidFill>
                  <a:srgbClr val="000000"/>
                </a:solidFill>
                <a:latin typeface="Arial Black"/>
              </a:rPr>
              <a:t>DATA</a:t>
            </a:r>
            <a:r>
              <a:rPr sz="6600" b="0">
                <a:solidFill>
                  <a:srgbClr val="19E3F5"/>
                </a:solidFill>
                <a:latin typeface="Arial Black"/>
              </a:rPr>
              <a:t>T</a:t>
            </a:r>
            <a:r>
              <a:rPr sz="6600" b="0">
                <a:solidFill>
                  <a:srgbClr val="000000"/>
                </a:solidFill>
                <a:latin typeface="Arial Black"/>
              </a:rPr>
              <a:t>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ROUND 1  ·  IDEA PPT + BASE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56616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Team Name (as registered)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Team Members (1–2)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Track Chosen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Problem Statement Title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Product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PROBLEM &amp; TARGET USER</a:t>
            </a:r>
          </a:p>
        </p:txBody>
      </p:sp>
      <p:pic>
        <p:nvPicPr>
          <p:cNvPr id="4" name="Picture 3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82880"/>
            <a:ext cx="1087459" cy="868680"/>
          </a:xfrm>
          <a:prstGeom prst="rect">
            <a:avLst/>
          </a:prstGeom>
        </p:spPr>
      </p:pic>
      <p:pic>
        <p:nvPicPr>
          <p:cNvPr id="5" name="Picture 4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84048"/>
            <a:ext cx="132873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Problem &amp; Target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Who is the user and what is their pain point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Why this problem matters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Evidence from the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SOLUTION &amp; USP</a:t>
            </a:r>
          </a:p>
        </p:txBody>
      </p:sp>
      <p:pic>
        <p:nvPicPr>
          <p:cNvPr id="4" name="Picture 3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82880"/>
            <a:ext cx="1087459" cy="868680"/>
          </a:xfrm>
          <a:prstGeom prst="rect">
            <a:avLst/>
          </a:prstGeom>
        </p:spPr>
      </p:pic>
      <p:pic>
        <p:nvPicPr>
          <p:cNvPr id="5" name="Picture 4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84048"/>
            <a:ext cx="132873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Describe your idea / solution / prototype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31335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USP</a:t>
            </a:r>
            <a:r>
              <a:rPr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1713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What makes your solution unique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Innovation compared to the obvious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DATASET &amp; INSIGHTS</a:t>
            </a:r>
          </a:p>
        </p:txBody>
      </p:sp>
      <p:pic>
        <p:nvPicPr>
          <p:cNvPr id="4" name="Picture 3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82880"/>
            <a:ext cx="1087459" cy="868680"/>
          </a:xfrm>
          <a:prstGeom prst="rect">
            <a:avLst/>
          </a:prstGeom>
        </p:spPr>
      </p:pic>
      <p:pic>
        <p:nvPicPr>
          <p:cNvPr id="5" name="Picture 4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84048"/>
            <a:ext cx="132873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Dataset 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Tables used and how they are joined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Cleaning done and assumptions made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Key insights 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ML MODEL</a:t>
            </a:r>
          </a:p>
        </p:txBody>
      </p:sp>
      <p:pic>
        <p:nvPicPr>
          <p:cNvPr id="4" name="Picture 3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82880"/>
            <a:ext cx="1087459" cy="868680"/>
          </a:xfrm>
          <a:prstGeom prst="rect">
            <a:avLst/>
          </a:prstGeom>
        </p:spPr>
      </p:pic>
      <p:pic>
        <p:nvPicPr>
          <p:cNvPr id="5" name="Picture 4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84048"/>
            <a:ext cx="132873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ML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Model built from scratch, or using an API key?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Features, target, baseline, split and metric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How the model output is used in the 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BASE PROTOTYPE &amp; MVP</a:t>
            </a:r>
          </a:p>
        </p:txBody>
      </p:sp>
      <p:pic>
        <p:nvPicPr>
          <p:cNvPr id="4" name="Picture 3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82880"/>
            <a:ext cx="1087459" cy="868680"/>
          </a:xfrm>
          <a:prstGeom prst="rect">
            <a:avLst/>
          </a:prstGeom>
        </p:spPr>
      </p:pic>
      <p:pic>
        <p:nvPicPr>
          <p:cNvPr id="5" name="Picture 4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84048"/>
            <a:ext cx="132873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Base Prototype (Round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What is built so far (screenshots / link)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64408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MVP for Round 2</a:t>
            </a:r>
            <a:r>
              <a:rPr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5020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Must-have features for the complete prototype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Demo workflow: input → output →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TECHNICAL APPROACH</a:t>
            </a:r>
          </a:p>
        </p:txBody>
      </p:sp>
      <p:pic>
        <p:nvPicPr>
          <p:cNvPr id="4" name="Picture 3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82880"/>
            <a:ext cx="1087459" cy="868680"/>
          </a:xfrm>
          <a:prstGeom prst="rect">
            <a:avLst/>
          </a:prstGeom>
        </p:spPr>
      </p:pic>
      <p:pic>
        <p:nvPicPr>
          <p:cNvPr id="5" name="Picture 4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84048"/>
            <a:ext cx="132873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Technical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Technologies used (languages, frameworks, APIs)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Flow: Data → Analyze → Model → Build →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FEASIBILITY, IMPACT &amp; NEXT STEPS</a:t>
            </a:r>
          </a:p>
        </p:txBody>
      </p:sp>
      <p:pic>
        <p:nvPicPr>
          <p:cNvPr id="4" name="Picture 3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82880"/>
            <a:ext cx="1087459" cy="868680"/>
          </a:xfrm>
          <a:prstGeom prst="rect">
            <a:avLst/>
          </a:prstGeom>
        </p:spPr>
      </p:pic>
      <p:pic>
        <p:nvPicPr>
          <p:cNvPr id="5" name="Picture 4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84048"/>
            <a:ext cx="132873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Feasibility, Impact &amp;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Feasibility, risks and how to overcome them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Impact and limitations (synthetic data)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Next steps and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